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0" r:id="rId3"/>
    <p:sldId id="261" r:id="rId4"/>
    <p:sldId id="262" r:id="rId5"/>
    <p:sldId id="283" r:id="rId6"/>
    <p:sldId id="286" r:id="rId7"/>
    <p:sldId id="284" r:id="rId8"/>
    <p:sldId id="285" r:id="rId9"/>
    <p:sldId id="263" r:id="rId10"/>
    <p:sldId id="280" r:id="rId11"/>
    <p:sldId id="264" r:id="rId12"/>
    <p:sldId id="265" r:id="rId13"/>
    <p:sldId id="282" r:id="rId14"/>
    <p:sldId id="266" r:id="rId15"/>
    <p:sldId id="268" r:id="rId16"/>
    <p:sldId id="267" r:id="rId17"/>
    <p:sldId id="271" r:id="rId18"/>
    <p:sldId id="269" r:id="rId19"/>
    <p:sldId id="270" r:id="rId20"/>
    <p:sldId id="272" r:id="rId21"/>
    <p:sldId id="273" r:id="rId22"/>
    <p:sldId id="274" r:id="rId23"/>
    <p:sldId id="275" r:id="rId24"/>
    <p:sldId id="276" r:id="rId25"/>
    <p:sldId id="278" r:id="rId26"/>
    <p:sldId id="277" r:id="rId27"/>
    <p:sldId id="279" r:id="rId28"/>
    <p:sldId id="287" r:id="rId29"/>
    <p:sldId id="281" r:id="rId30"/>
    <p:sldId id="289" r:id="rId31"/>
    <p:sldId id="259" r:id="rId32"/>
  </p:sldIdLst>
  <p:sldSz cx="12192000" cy="6858000"/>
  <p:notesSz cx="6858000" cy="9144000"/>
  <p:embeddedFontLst>
    <p:embeddedFont>
      <p:font typeface="Calibri" pitchFamily="34" charset="0"/>
      <p:regular r:id="rId34"/>
      <p:bold r:id="rId35"/>
      <p:italic r:id="rId36"/>
      <p:boldItalic r:id="rId37"/>
    </p:embeddedFont>
    <p:embeddedFont>
      <p:font typeface="Algerian" pitchFamily="82" charset="0"/>
      <p:regular r:id="rId38"/>
    </p:embeddedFont>
    <p:embeddedFont>
      <p:font typeface="Arial Rounded MT Bold" pitchFamily="34" charset="0"/>
      <p:regular r:id="rId39"/>
    </p:embeddedFont>
    <p:embeddedFont>
      <p:font typeface="Libre Baskerville" charset="0"/>
      <p:regular r:id="rId40"/>
      <p:bold r:id="rId41"/>
      <p: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hnFQsu0qTBRZ+C47HNp0tuHCNko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0" clrIdx="0">
    <p:extLst>
      <p:ext uri="{19B8F6BF-5375-455C-9EA6-DF929625EA0E}">
        <p15:presenceInfo xmlns:p15="http://schemas.microsoft.com/office/powerpoint/2012/main" xmlns="" userId="e1fbe53b63b34d1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F55805-CDE7-4556-912C-5D48A3CA4650}" v="114" dt="2023-11-25T15:28:33.1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65" autoAdjust="0"/>
    <p:restoredTop sz="94660"/>
  </p:normalViewPr>
  <p:slideViewPr>
    <p:cSldViewPr>
      <p:cViewPr>
        <p:scale>
          <a:sx n="70" d="100"/>
          <a:sy n="70" d="100"/>
        </p:scale>
        <p:origin x="-570" y="-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customschemas.google.com/relationships/presentationmetadata" Target="metadata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lam Tharun" userId="3620a25881a771d5" providerId="Windows Live" clId="Web-{C5F55805-CDE7-4556-912C-5D48A3CA4650}"/>
    <pc:docChg chg="modSld">
      <pc:chgData name="Dulam Tharun" userId="3620a25881a771d5" providerId="Windows Live" clId="Web-{C5F55805-CDE7-4556-912C-5D48A3CA4650}" dt="2023-11-25T15:28:33.166" v="113" actId="14100"/>
      <pc:docMkLst>
        <pc:docMk/>
      </pc:docMkLst>
      <pc:sldChg chg="modSp">
        <pc:chgData name="Dulam Tharun" userId="3620a25881a771d5" providerId="Windows Live" clId="Web-{C5F55805-CDE7-4556-912C-5D48A3CA4650}" dt="2023-11-25T15:28:33.166" v="113" actId="14100"/>
        <pc:sldMkLst>
          <pc:docMk/>
          <pc:sldMk cId="0" sldId="264"/>
        </pc:sldMkLst>
        <pc:spChg chg="mod">
          <ac:chgData name="Dulam Tharun" userId="3620a25881a771d5" providerId="Windows Live" clId="Web-{C5F55805-CDE7-4556-912C-5D48A3CA4650}" dt="2023-11-25T15:28:24.791" v="110" actId="1076"/>
          <ac:spMkLst>
            <pc:docMk/>
            <pc:sldMk cId="0" sldId="264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28:33.166" v="113" actId="14100"/>
          <ac:picMkLst>
            <pc:docMk/>
            <pc:sldMk cId="0" sldId="264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26:51.475" v="97" actId="1076"/>
        <pc:sldMkLst>
          <pc:docMk/>
          <pc:sldMk cId="0" sldId="267"/>
        </pc:sldMkLst>
        <pc:spChg chg="mod">
          <ac:chgData name="Dulam Tharun" userId="3620a25881a771d5" providerId="Windows Live" clId="Web-{C5F55805-CDE7-4556-912C-5D48A3CA4650}" dt="2023-11-25T15:26:47.428" v="96" actId="14100"/>
          <ac:spMkLst>
            <pc:docMk/>
            <pc:sldMk cId="0" sldId="267"/>
            <ac:spMk id="3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26:51.475" v="97" actId="1076"/>
          <ac:picMkLst>
            <pc:docMk/>
            <pc:sldMk cId="0" sldId="267"/>
            <ac:picMk id="4" creationId="{00000000-0000-0000-0000-000000000000}"/>
          </ac:picMkLst>
        </pc:picChg>
        <pc:picChg chg="mod modCrop">
          <ac:chgData name="Dulam Tharun" userId="3620a25881a771d5" providerId="Windows Live" clId="Web-{C5F55805-CDE7-4556-912C-5D48A3CA4650}" dt="2023-11-25T15:26:32.896" v="93" actId="14100"/>
          <ac:picMkLst>
            <pc:docMk/>
            <pc:sldMk cId="0" sldId="267"/>
            <ac:picMk id="5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27:23.757" v="101" actId="14100"/>
        <pc:sldMkLst>
          <pc:docMk/>
          <pc:sldMk cId="0" sldId="268"/>
        </pc:sldMkLst>
        <pc:picChg chg="mod modCrop">
          <ac:chgData name="Dulam Tharun" userId="3620a25881a771d5" providerId="Windows Live" clId="Web-{C5F55805-CDE7-4556-912C-5D48A3CA4650}" dt="2023-11-25T15:27:23.757" v="101" actId="14100"/>
          <ac:picMkLst>
            <pc:docMk/>
            <pc:sldMk cId="0" sldId="268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23:21.108" v="72" actId="14100"/>
        <pc:sldMkLst>
          <pc:docMk/>
          <pc:sldMk cId="0" sldId="269"/>
        </pc:sldMkLst>
        <pc:spChg chg="mod">
          <ac:chgData name="Dulam Tharun" userId="3620a25881a771d5" providerId="Windows Live" clId="Web-{C5F55805-CDE7-4556-912C-5D48A3CA4650}" dt="2023-11-25T15:22:30.543" v="66" actId="1076"/>
          <ac:spMkLst>
            <pc:docMk/>
            <pc:sldMk cId="0" sldId="269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23:21.108" v="72" actId="14100"/>
          <ac:picMkLst>
            <pc:docMk/>
            <pc:sldMk cId="0" sldId="269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22:00.745" v="65" actId="14100"/>
        <pc:sldMkLst>
          <pc:docMk/>
          <pc:sldMk cId="0" sldId="270"/>
        </pc:sldMkLst>
        <pc:spChg chg="mod">
          <ac:chgData name="Dulam Tharun" userId="3620a25881a771d5" providerId="Windows Live" clId="Web-{C5F55805-CDE7-4556-912C-5D48A3CA4650}" dt="2023-11-25T15:21:19.665" v="59" actId="1076"/>
          <ac:spMkLst>
            <pc:docMk/>
            <pc:sldMk cId="0" sldId="270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22:00.745" v="65" actId="14100"/>
          <ac:picMkLst>
            <pc:docMk/>
            <pc:sldMk cId="0" sldId="270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24:01.062" v="79" actId="14100"/>
        <pc:sldMkLst>
          <pc:docMk/>
          <pc:sldMk cId="0" sldId="271"/>
        </pc:sldMkLst>
        <pc:spChg chg="mod">
          <ac:chgData name="Dulam Tharun" userId="3620a25881a771d5" providerId="Windows Live" clId="Web-{C5F55805-CDE7-4556-912C-5D48A3CA4650}" dt="2023-11-25T15:23:33.030" v="73" actId="1076"/>
          <ac:spMkLst>
            <pc:docMk/>
            <pc:sldMk cId="0" sldId="271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24:01.062" v="79" actId="14100"/>
          <ac:picMkLst>
            <pc:docMk/>
            <pc:sldMk cId="0" sldId="271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21:09.712" v="58" actId="14100"/>
        <pc:sldMkLst>
          <pc:docMk/>
          <pc:sldMk cId="0" sldId="272"/>
        </pc:sldMkLst>
        <pc:spChg chg="mod">
          <ac:chgData name="Dulam Tharun" userId="3620a25881a771d5" providerId="Windows Live" clId="Web-{C5F55805-CDE7-4556-912C-5D48A3CA4650}" dt="2023-11-25T15:20:21.069" v="50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Dulam Tharun" userId="3620a25881a771d5" providerId="Windows Live" clId="Web-{C5F55805-CDE7-4556-912C-5D48A3CA4650}" dt="2023-11-25T15:20:48.820" v="53" actId="14100"/>
          <ac:spMkLst>
            <pc:docMk/>
            <pc:sldMk cId="0" sldId="272"/>
            <ac:spMk id="3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21:09.712" v="58" actId="14100"/>
          <ac:picMkLst>
            <pc:docMk/>
            <pc:sldMk cId="0" sldId="272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20:11.163" v="49" actId="14100"/>
        <pc:sldMkLst>
          <pc:docMk/>
          <pc:sldMk cId="0" sldId="273"/>
        </pc:sldMkLst>
        <pc:spChg chg="mod">
          <ac:chgData name="Dulam Tharun" userId="3620a25881a771d5" providerId="Windows Live" clId="Web-{C5F55805-CDE7-4556-912C-5D48A3CA4650}" dt="2023-11-25T15:19:38.380" v="44" actId="1076"/>
          <ac:spMkLst>
            <pc:docMk/>
            <pc:sldMk cId="0" sldId="273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20:11.163" v="49" actId="14100"/>
          <ac:picMkLst>
            <pc:docMk/>
            <pc:sldMk cId="0" sldId="273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19:29.989" v="43" actId="14100"/>
        <pc:sldMkLst>
          <pc:docMk/>
          <pc:sldMk cId="0" sldId="274"/>
        </pc:sldMkLst>
        <pc:spChg chg="mod">
          <ac:chgData name="Dulam Tharun" userId="3620a25881a771d5" providerId="Windows Live" clId="Web-{C5F55805-CDE7-4556-912C-5D48A3CA4650}" dt="2023-11-25T15:18:52.675" v="38" actId="1076"/>
          <ac:spMkLst>
            <pc:docMk/>
            <pc:sldMk cId="0" sldId="274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19:29.989" v="43" actId="14100"/>
          <ac:picMkLst>
            <pc:docMk/>
            <pc:sldMk cId="0" sldId="274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18:43.706" v="37" actId="14100"/>
        <pc:sldMkLst>
          <pc:docMk/>
          <pc:sldMk cId="0" sldId="275"/>
        </pc:sldMkLst>
        <pc:spChg chg="mod">
          <ac:chgData name="Dulam Tharun" userId="3620a25881a771d5" providerId="Windows Live" clId="Web-{C5F55805-CDE7-4556-912C-5D48A3CA4650}" dt="2023-11-25T15:18:12.752" v="32" actId="1076"/>
          <ac:spMkLst>
            <pc:docMk/>
            <pc:sldMk cId="0" sldId="275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18:43.706" v="37" actId="14100"/>
          <ac:picMkLst>
            <pc:docMk/>
            <pc:sldMk cId="0" sldId="275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18:04.970" v="31" actId="14100"/>
        <pc:sldMkLst>
          <pc:docMk/>
          <pc:sldMk cId="0" sldId="276"/>
        </pc:sldMkLst>
        <pc:spChg chg="mod">
          <ac:chgData name="Dulam Tharun" userId="3620a25881a771d5" providerId="Windows Live" clId="Web-{C5F55805-CDE7-4556-912C-5D48A3CA4650}" dt="2023-11-25T15:17:54.470" v="28" actId="1076"/>
          <ac:spMkLst>
            <pc:docMk/>
            <pc:sldMk cId="0" sldId="276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18:04.970" v="31" actId="14100"/>
          <ac:picMkLst>
            <pc:docMk/>
            <pc:sldMk cId="0" sldId="276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16:18.013" v="17" actId="14100"/>
        <pc:sldMkLst>
          <pc:docMk/>
          <pc:sldMk cId="0" sldId="277"/>
        </pc:sldMkLst>
        <pc:spChg chg="mod">
          <ac:chgData name="Dulam Tharun" userId="3620a25881a771d5" providerId="Windows Live" clId="Web-{C5F55805-CDE7-4556-912C-5D48A3CA4650}" dt="2023-11-25T15:16:04.403" v="14" actId="1076"/>
          <ac:spMkLst>
            <pc:docMk/>
            <pc:sldMk cId="0" sldId="277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16:18.013" v="17" actId="14100"/>
          <ac:picMkLst>
            <pc:docMk/>
            <pc:sldMk cId="0" sldId="277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17:14.875" v="24" actId="14100"/>
        <pc:sldMkLst>
          <pc:docMk/>
          <pc:sldMk cId="0" sldId="278"/>
        </pc:sldMkLst>
        <pc:spChg chg="mod">
          <ac:chgData name="Dulam Tharun" userId="3620a25881a771d5" providerId="Windows Live" clId="Web-{C5F55805-CDE7-4556-912C-5D48A3CA4650}" dt="2023-11-25T15:16:29.076" v="18" actId="1076"/>
          <ac:spMkLst>
            <pc:docMk/>
            <pc:sldMk cId="0" sldId="278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17:14.875" v="24" actId="14100"/>
          <ac:picMkLst>
            <pc:docMk/>
            <pc:sldMk cId="0" sldId="278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15:30.043" v="11" actId="14100"/>
        <pc:sldMkLst>
          <pc:docMk/>
          <pc:sldMk cId="0" sldId="279"/>
        </pc:sldMkLst>
        <pc:spChg chg="mod">
          <ac:chgData name="Dulam Tharun" userId="3620a25881a771d5" providerId="Windows Live" clId="Web-{C5F55805-CDE7-4556-912C-5D48A3CA4650}" dt="2023-11-25T15:15:09.433" v="7" actId="1076"/>
          <ac:spMkLst>
            <pc:docMk/>
            <pc:sldMk cId="0" sldId="279"/>
            <ac:spMk id="2" creationId="{00000000-0000-0000-0000-000000000000}"/>
          </ac:spMkLst>
        </pc:spChg>
        <pc:spChg chg="mod">
          <ac:chgData name="Dulam Tharun" userId="3620a25881a771d5" providerId="Windows Live" clId="Web-{C5F55805-CDE7-4556-912C-5D48A3CA4650}" dt="2023-11-25T15:15:25.886" v="10" actId="14100"/>
          <ac:spMkLst>
            <pc:docMk/>
            <pc:sldMk cId="0" sldId="279"/>
            <ac:spMk id="3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15:30.043" v="11" actId="14100"/>
          <ac:picMkLst>
            <pc:docMk/>
            <pc:sldMk cId="0" sldId="279"/>
            <ac:picMk id="4" creationId="{00000000-0000-0000-0000-000000000000}"/>
          </ac:picMkLst>
        </pc:picChg>
      </pc:sldChg>
      <pc:sldChg chg="modSp">
        <pc:chgData name="Dulam Tharun" userId="3620a25881a771d5" providerId="Windows Live" clId="Web-{C5F55805-CDE7-4556-912C-5D48A3CA4650}" dt="2023-11-25T15:27:54.868" v="106" actId="14100"/>
        <pc:sldMkLst>
          <pc:docMk/>
          <pc:sldMk cId="0" sldId="282"/>
        </pc:sldMkLst>
        <pc:spChg chg="mod">
          <ac:chgData name="Dulam Tharun" userId="3620a25881a771d5" providerId="Windows Live" clId="Web-{C5F55805-CDE7-4556-912C-5D48A3CA4650}" dt="2023-11-25T15:27:33.633" v="102" actId="1076"/>
          <ac:spMkLst>
            <pc:docMk/>
            <pc:sldMk cId="0" sldId="282"/>
            <ac:spMk id="2" creationId="{00000000-0000-0000-0000-000000000000}"/>
          </ac:spMkLst>
        </pc:spChg>
        <pc:picChg chg="mod modCrop">
          <ac:chgData name="Dulam Tharun" userId="3620a25881a771d5" providerId="Windows Live" clId="Web-{C5F55805-CDE7-4556-912C-5D48A3CA4650}" dt="2023-11-25T15:27:54.868" v="106" actId="14100"/>
          <ac:picMkLst>
            <pc:docMk/>
            <pc:sldMk cId="0" sldId="282"/>
            <ac:picMk id="102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76422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816801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138034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bikekharido.com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6390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1508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1800" b="0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2800" b="1" dirty="0" smtClean="0"/>
              <a:t>A Data Analysis Project Second hand Bike Purchase Assistance</a:t>
            </a:r>
            <a:endParaRPr lang="en-IN" sz="28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638800"/>
            <a:ext cx="4191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 smtClean="0"/>
              <a:t>M.Pavan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Datta</a:t>
            </a:r>
            <a:endParaRPr lang="en-US" sz="1800" b="1" dirty="0" smtClean="0"/>
          </a:p>
          <a:p>
            <a:r>
              <a:rPr lang="en-US" sz="1800" b="1" dirty="0" smtClean="0"/>
              <a:t>Batch 403</a:t>
            </a:r>
          </a:p>
          <a:p>
            <a:r>
              <a:rPr lang="en-US" sz="1800" b="1" dirty="0" err="1" smtClean="0"/>
              <a:t>Innomatics</a:t>
            </a:r>
            <a:r>
              <a:rPr lang="en-US" sz="1800" b="1" dirty="0" smtClean="0"/>
              <a:t> Research Labs </a:t>
            </a:r>
            <a:r>
              <a:rPr lang="en-US" sz="1800" b="1" dirty="0" err="1" smtClean="0"/>
              <a:t>Dilsukhnagar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820400" cy="4881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For Collecting Data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For Cleaning Data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Introduction to </a:t>
            </a:r>
            <a:r>
              <a:rPr lang="en-US" b="1" dirty="0" smtClean="0">
                <a:solidFill>
                  <a:schemeClr val="tx1"/>
                </a:solidFill>
              </a:rPr>
              <a:t>Bikekharido.com(</a:t>
            </a:r>
            <a:r>
              <a:rPr lang="en-US" b="1" dirty="0" smtClean="0"/>
              <a:t>An Online Marketplace for Bikes</a:t>
            </a:r>
            <a:r>
              <a:rPr lang="en-US" b="1" dirty="0" smtClean="0">
                <a:solidFill>
                  <a:schemeClr val="tx1"/>
                </a:solidFill>
              </a:rPr>
              <a:t>: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hlinkClick r:id="rId2"/>
              </a:rPr>
              <a:t>BikeKharido.com</a:t>
            </a:r>
            <a:r>
              <a:rPr lang="en-US" b="1" dirty="0" smtClean="0"/>
              <a:t> is an Indian online classifieds portal for buying and selling motorcycles.</a:t>
            </a:r>
            <a:r>
              <a:rPr lang="en-US" dirty="0" smtClean="0"/>
              <a:t> It serves a similar purpose to larger, more established platforms like </a:t>
            </a:r>
            <a:r>
              <a:rPr lang="en-US" b="1" dirty="0" err="1" smtClean="0"/>
              <a:t>BikeWale</a:t>
            </a:r>
            <a:r>
              <a:rPr lang="en-US" b="1" dirty="0" smtClean="0"/>
              <a:t>, </a:t>
            </a:r>
            <a:r>
              <a:rPr lang="en-US" b="1" dirty="0" err="1" smtClean="0"/>
              <a:t>Olx</a:t>
            </a:r>
            <a:r>
              <a:rPr lang="en-US" b="1" dirty="0" smtClean="0"/>
              <a:t>, Cars24, or </a:t>
            </a:r>
            <a:r>
              <a:rPr lang="en-US" b="1" dirty="0" err="1" smtClean="0"/>
              <a:t>CarDekho</a:t>
            </a:r>
            <a:r>
              <a:rPr lang="en-US" dirty="0" smtClean="0"/>
              <a:t>, but likely on a different scale..</a:t>
            </a:r>
            <a:endParaRPr lang="en-US" dirty="0"/>
          </a:p>
          <a:p>
            <a:r>
              <a:rPr lang="en-US" dirty="0" smtClean="0"/>
              <a:t> It hosts listings from both authorized dealerships (for new bikes) and individual private sellers. A large database of motorcycles and scooters from various brands (like Hero, Honda, Bajaj, Yamaha, Royal Enfield, KTM, etc..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5257800"/>
            <a:ext cx="472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PROBLEM STATEMENT(Objective):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676400"/>
            <a:ext cx="10134600" cy="4571999"/>
          </a:xfrm>
        </p:spPr>
        <p:txBody>
          <a:bodyPr/>
          <a:lstStyle/>
          <a:p>
            <a:r>
              <a:rPr lang="en-US" dirty="0" smtClean="0"/>
              <a:t>Prospective buyers of second-hand bikes face the risk of overpaying due to information asymmetry and the difficulty of assessing a bike's true worth from listed prices. This project tackles this problem by deconstructing the factors that influence resale value. Through exploratory data analysis and </a:t>
            </a:r>
            <a:r>
              <a:rPr lang="en-US" dirty="0" err="1" smtClean="0"/>
              <a:t>visualisation</a:t>
            </a:r>
            <a:r>
              <a:rPr lang="en-US" dirty="0" smtClean="0"/>
              <a:t> , we provide a clear framework for buyers to identify fairly priced bikes and negotiate effectively, ensuring they get the best value for their money.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304800"/>
            <a:ext cx="4904554" cy="287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381000"/>
            <a:ext cx="452563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49" name="AutoShape 5" descr="https://assets-webp.khelnow.com/news/uploads/2023/07/Venkatesh-Prasad-MS-Dhoni-home-Ranchi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51" name="AutoShape 7" descr="https://assets-webp.khelnow.com/news/uploads/2023/07/Venkatesh-Prasad-MS-Dhoni-home-Ranchi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3886200"/>
            <a:ext cx="5059363" cy="2808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10400" y="3886200"/>
            <a:ext cx="3505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4345998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371600"/>
            <a:ext cx="5758783" cy="311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3010" name="Picture 2" descr="C:\Users\user\Pictures\Screenshot 2025-10-15 19520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0"/>
            <a:ext cx="6958013" cy="666334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9067800" y="1219200"/>
            <a:ext cx="2514600" cy="31700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Spend your hard earned money sensibly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Motives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What amount is required to buy a vehicle (second hand)?</a:t>
            </a:r>
          </a:p>
          <a:p>
            <a:r>
              <a:rPr lang="en-US" sz="3600" dirty="0" smtClean="0"/>
              <a:t>How Registered year impact price of the vehicle.</a:t>
            </a:r>
          </a:p>
          <a:p>
            <a:r>
              <a:rPr lang="en-US" sz="3600" dirty="0" smtClean="0"/>
              <a:t>Which Vehicle to choose an over-travelled one  or the vehicle that has travelled less Km’s.</a:t>
            </a:r>
          </a:p>
          <a:p>
            <a:r>
              <a:rPr lang="en-US" sz="3600" dirty="0" smtClean="0"/>
              <a:t>What should your trust (brand or Service)?</a:t>
            </a:r>
          </a:p>
          <a:p>
            <a:r>
              <a:rPr lang="en-US" sz="3600" dirty="0" smtClean="0"/>
              <a:t>Where to look for more options?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# importing all required libraries</a:t>
            </a:r>
          </a:p>
        </p:txBody>
      </p:sp>
      <p:pic>
        <p:nvPicPr>
          <p:cNvPr id="4" name="Picture 2" descr="C:\Users\Rahul\Pictures\Screenshots\Screenshot (9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667000"/>
            <a:ext cx="838200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For Collecting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Install Necessary Libraries</a:t>
            </a:r>
          </a:p>
          <a:p>
            <a:r>
              <a:rPr lang="en-IN" sz="2400" dirty="0"/>
              <a:t>Inspect the Website</a:t>
            </a:r>
          </a:p>
          <a:p>
            <a:r>
              <a:rPr lang="en-IN" sz="2400" dirty="0"/>
              <a:t>Write the Python Script</a:t>
            </a:r>
          </a:p>
          <a:p>
            <a:r>
              <a:rPr lang="en-IN" sz="2400" dirty="0"/>
              <a:t>Send an HTTP Request</a:t>
            </a:r>
          </a:p>
          <a:p>
            <a:r>
              <a:rPr lang="en-IN" sz="2400" dirty="0"/>
              <a:t>Check Request Status</a:t>
            </a:r>
          </a:p>
          <a:p>
            <a:r>
              <a:rPr lang="en-IN" sz="2400" dirty="0"/>
              <a:t>Parse HTML Content using BeautifulSoup</a:t>
            </a:r>
          </a:p>
          <a:p>
            <a:r>
              <a:rPr lang="en-IN" sz="2400" dirty="0"/>
              <a:t>Identify HTML Elements</a:t>
            </a:r>
          </a:p>
          <a:p>
            <a:r>
              <a:rPr lang="en-US" sz="2400" dirty="0"/>
              <a:t>Handle Pagination and Dynamic Content</a:t>
            </a:r>
          </a:p>
          <a:p>
            <a:r>
              <a:rPr lang="en-IN" sz="2400" dirty="0"/>
              <a:t>Data Storage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6420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38" y="22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Sample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950913"/>
            <a:ext cx="10591799" cy="5297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Collected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8801"/>
            <a:ext cx="10515600" cy="38862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 smtClean="0"/>
              <a:t>Vehicle	:   </a:t>
            </a:r>
            <a:r>
              <a:rPr lang="en-US" dirty="0"/>
              <a:t>Name of the </a:t>
            </a:r>
            <a:r>
              <a:rPr lang="en-US" dirty="0" smtClean="0"/>
              <a:t>Model.</a:t>
            </a:r>
            <a:endParaRPr lang="en-US" dirty="0"/>
          </a:p>
          <a:p>
            <a:r>
              <a:rPr lang="en-US" dirty="0" smtClean="0">
                <a:solidFill>
                  <a:schemeClr val="tx1"/>
                </a:solidFill>
              </a:rPr>
              <a:t>Year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en-US" dirty="0" smtClean="0"/>
              <a:t>:   First registered year of the bike</a:t>
            </a:r>
            <a:endParaRPr lang="en-US" dirty="0"/>
          </a:p>
          <a:p>
            <a:r>
              <a:rPr lang="en-US" dirty="0" smtClean="0">
                <a:solidFill>
                  <a:schemeClr val="tx1"/>
                </a:solidFill>
              </a:rPr>
              <a:t>Price</a:t>
            </a:r>
            <a:r>
              <a:rPr lang="en-US" dirty="0" smtClean="0"/>
              <a:t>	:   Price of the bike</a:t>
            </a:r>
            <a:endParaRPr lang="en-US" dirty="0"/>
          </a:p>
          <a:p>
            <a:r>
              <a:rPr lang="en-US" dirty="0" smtClean="0">
                <a:solidFill>
                  <a:schemeClr val="tx1"/>
                </a:solidFill>
              </a:rPr>
              <a:t>Km</a:t>
            </a:r>
            <a:r>
              <a:rPr lang="en-US" dirty="0" smtClean="0"/>
              <a:t>	:   Distance in Km the bike has travelled</a:t>
            </a:r>
            <a:endParaRPr lang="en-US" dirty="0"/>
          </a:p>
          <a:p>
            <a:r>
              <a:rPr lang="en-US" dirty="0" smtClean="0">
                <a:solidFill>
                  <a:schemeClr val="tx1"/>
                </a:solidFill>
              </a:rPr>
              <a:t>Location</a:t>
            </a:r>
            <a:r>
              <a:rPr lang="en-US" dirty="0" smtClean="0"/>
              <a:t>	:    City where the bike is for sale</a:t>
            </a:r>
            <a:endParaRPr lang="en-US" dirty="0"/>
          </a:p>
          <a:p>
            <a:r>
              <a:rPr lang="en-US" dirty="0" smtClean="0">
                <a:solidFill>
                  <a:schemeClr val="tx1"/>
                </a:solidFill>
              </a:rPr>
              <a:t>Hand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en-US" dirty="0" smtClean="0"/>
              <a:t>:    How the seller has bought the vehicle</a:t>
            </a:r>
            <a:endParaRPr lang="en-US" dirty="0"/>
          </a:p>
          <a:p>
            <a:r>
              <a:rPr lang="en-US" dirty="0" smtClean="0">
                <a:solidFill>
                  <a:schemeClr val="tx1"/>
                </a:solidFill>
              </a:rPr>
              <a:t>Brand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	</a:t>
            </a:r>
            <a:r>
              <a:rPr lang="en-US" dirty="0" smtClean="0"/>
              <a:t>:     The Manufacturing company  of the vehicle</a:t>
            </a: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1942"/>
            <a:ext cx="10515600" cy="777875"/>
          </a:xfrm>
        </p:spPr>
        <p:txBody>
          <a:bodyPr/>
          <a:lstStyle/>
          <a:p>
            <a:r>
              <a:rPr lang="en-US" dirty="0"/>
              <a:t>Raw Data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838200"/>
            <a:ext cx="10591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For Cleaning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/>
          </a:bodyPr>
          <a:lstStyle/>
          <a:p>
            <a:r>
              <a:rPr lang="en-US" sz="2400" dirty="0"/>
              <a:t>After executing the program , create a DataFrame using dictionary and check whether the data inside it is cleaned or not . </a:t>
            </a:r>
          </a:p>
          <a:p>
            <a:r>
              <a:rPr lang="en-US" sz="2400" dirty="0"/>
              <a:t>For cleaning the data in the dataframe ,check for the null values and duplicate data, if all </a:t>
            </a:r>
            <a:r>
              <a:rPr lang="en-US" sz="2400" dirty="0" smtClean="0"/>
              <a:t>the null values in </a:t>
            </a:r>
            <a:r>
              <a:rPr lang="en-US" sz="2400" dirty="0"/>
              <a:t>columns is zero then it is appropriate for further processing.</a:t>
            </a:r>
          </a:p>
          <a:p>
            <a:r>
              <a:rPr lang="en-US" sz="2400" dirty="0"/>
              <a:t>Clean text data by removing unnecessary whitespaces, special characters, and HTML tags from text data and remove irrelevant information using </a:t>
            </a:r>
            <a:r>
              <a:rPr lang="en-US" sz="2400" dirty="0" err="1"/>
              <a:t>Regex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Removed \n,\div, rupee symbol . Extracting  Brand and year for product.</a:t>
            </a:r>
            <a:endParaRPr lang="en-US" sz="2400" dirty="0"/>
          </a:p>
          <a:p>
            <a:r>
              <a:rPr lang="en-US" sz="2400" dirty="0"/>
              <a:t>Convert the data types. By default all the types of columns are objects, change according to the column like float32 or int32 etc..</a:t>
            </a:r>
          </a:p>
          <a:p>
            <a:r>
              <a:rPr lang="en-US" sz="2400" dirty="0"/>
              <a:t>Check the shape of the database and save the cleaned </a:t>
            </a:r>
            <a:r>
              <a:rPr lang="en-US" sz="2400" dirty="0" smtClean="0"/>
              <a:t>data into </a:t>
            </a:r>
            <a:r>
              <a:rPr lang="en-US" sz="2400" dirty="0" err="1" smtClean="0"/>
              <a:t>csv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6096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Quick view of Cleaned data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143000"/>
            <a:ext cx="10896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91439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Type and shape of data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3885" y="1071092"/>
            <a:ext cx="9105362" cy="36033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838200"/>
            <a:ext cx="5287963" cy="4285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066800"/>
            <a:ext cx="4876800" cy="1794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3200400"/>
            <a:ext cx="46482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"/>
            <a:ext cx="10515600" cy="1325563"/>
          </a:xfrm>
        </p:spPr>
        <p:txBody>
          <a:bodyPr/>
          <a:lstStyle/>
          <a:p>
            <a:r>
              <a:rPr lang="en-US" dirty="0"/>
              <a:t>statistical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143001"/>
            <a:ext cx="10744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-304800"/>
            <a:ext cx="6629400" cy="1325563"/>
          </a:xfrm>
        </p:spPr>
        <p:txBody>
          <a:bodyPr/>
          <a:lstStyle/>
          <a:p>
            <a:r>
              <a:rPr lang="en-US" dirty="0"/>
              <a:t>Finding correlation of data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2000"/>
            <a:ext cx="89916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9067800" y="1600200"/>
            <a:ext cx="289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* KM driven are impacting price negatively(Weak)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* Year of the registration is impacting the price of the Positively(moderate).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4"/>
            <a:ext cx="10972800" cy="13255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the average price of second hand bike and Evaluate the reason for such price(high </a:t>
            </a:r>
            <a:r>
              <a:rPr lang="en-US" smtClean="0"/>
              <a:t>or low)?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067800" cy="530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220200" y="1447800"/>
            <a:ext cx="2971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000" dirty="0" smtClean="0"/>
              <a:t>Average </a:t>
            </a:r>
            <a:r>
              <a:rPr lang="en-US" sz="2000" dirty="0" smtClean="0"/>
              <a:t>Price of a bike is </a:t>
            </a:r>
            <a:r>
              <a:rPr lang="en-US" sz="2000" dirty="0" smtClean="0"/>
              <a:t>Rs.96800</a:t>
            </a:r>
          </a:p>
          <a:p>
            <a:pPr>
              <a:buFont typeface="Arial" charset="0"/>
              <a:buChar char="•"/>
            </a:pPr>
            <a:r>
              <a:rPr lang="en-US" sz="2000" dirty="0" smtClean="0"/>
              <a:t> </a:t>
            </a:r>
            <a:r>
              <a:rPr lang="en-US" sz="2000" dirty="0" smtClean="0"/>
              <a:t>Most of the bikes cost range from </a:t>
            </a:r>
            <a:r>
              <a:rPr lang="en-US" sz="2000" dirty="0" smtClean="0"/>
              <a:t>Rs.25000 </a:t>
            </a:r>
            <a:r>
              <a:rPr lang="en-US" sz="2000" dirty="0" smtClean="0"/>
              <a:t>to </a:t>
            </a:r>
            <a:r>
              <a:rPr lang="en-US" sz="2000" dirty="0" smtClean="0"/>
              <a:t>Rs.200000</a:t>
            </a:r>
          </a:p>
          <a:p>
            <a:pPr>
              <a:buFont typeface="Arial" charset="0"/>
              <a:buChar char="•"/>
            </a:pPr>
            <a:r>
              <a:rPr lang="en-US" sz="2000" dirty="0" smtClean="0"/>
              <a:t> </a:t>
            </a:r>
            <a:r>
              <a:rPr lang="en-US" sz="2000" dirty="0" smtClean="0"/>
              <a:t>There are High Expensive Bikes beyond </a:t>
            </a:r>
            <a:r>
              <a:rPr lang="en-US" sz="2000" dirty="0" smtClean="0"/>
              <a:t>Rs.400000</a:t>
            </a:r>
          </a:p>
          <a:p>
            <a:pPr>
              <a:buFont typeface="Arial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 smtClean="0"/>
              <a:t>cost of the most expensive is </a:t>
            </a:r>
            <a:r>
              <a:rPr lang="en-US" sz="2000" dirty="0" smtClean="0"/>
              <a:t>Rs.850000*</a:t>
            </a:r>
          </a:p>
          <a:p>
            <a:pPr>
              <a:buFont typeface="Arial" charset="0"/>
              <a:buChar char="•"/>
            </a:pPr>
            <a:r>
              <a:rPr lang="en-US" sz="2000" dirty="0" smtClean="0"/>
              <a:t>Excluding </a:t>
            </a:r>
            <a:r>
              <a:rPr lang="en-US" sz="2000" dirty="0" smtClean="0"/>
              <a:t>expensive bikes average price of a bike is Rs.66000.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28600"/>
            <a:ext cx="10515600" cy="1325563"/>
          </a:xfrm>
        </p:spPr>
        <p:txBody>
          <a:bodyPr/>
          <a:lstStyle/>
          <a:p>
            <a:r>
              <a:rPr lang="en-US" dirty="0" smtClean="0"/>
              <a:t>What are those Expensive Bikes?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1935"/>
            <a:ext cx="10515600" cy="48450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79463"/>
            <a:ext cx="12192000" cy="530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0" y="6096000"/>
            <a:ext cx="1013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 smtClean="0"/>
              <a:t>Ducati,Kawasaki,Harley,BMW,Benelli</a:t>
            </a:r>
            <a:r>
              <a:rPr lang="en-US" sz="2000" b="1" dirty="0" smtClean="0"/>
              <a:t> brand has the highest priced vehicle (</a:t>
            </a:r>
            <a:r>
              <a:rPr lang="en-US" sz="2000" b="1" dirty="0" err="1" smtClean="0"/>
              <a:t>Avg:Rs</a:t>
            </a:r>
            <a:r>
              <a:rPr lang="en-US" sz="2000" b="1" dirty="0" smtClean="0"/>
              <a:t> 496666)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"/>
            <a:ext cx="10515600" cy="1325563"/>
          </a:xfrm>
        </p:spPr>
        <p:txBody>
          <a:bodyPr/>
          <a:lstStyle/>
          <a:p>
            <a:r>
              <a:rPr lang="en-US" dirty="0" smtClean="0"/>
              <a:t>Listings of bikes in different brands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36675"/>
            <a:ext cx="10668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52400" y="5638800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 </a:t>
            </a:r>
            <a:r>
              <a:rPr lang="en-US" sz="2000" b="1" dirty="0" smtClean="0"/>
              <a:t>More vehicles are available in Bajaj(210) brand followed by Honda(188) , Royal Enfield(158) , TVS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4"/>
            <a:ext cx="10515600" cy="1325563"/>
          </a:xfrm>
        </p:spPr>
        <p:txBody>
          <a:bodyPr/>
          <a:lstStyle/>
          <a:p>
            <a:r>
              <a:rPr lang="en-US" dirty="0" smtClean="0"/>
              <a:t>Taking Year into consideration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8369300" cy="6076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8610600" y="1981200"/>
            <a:ext cx="3352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000" b="1" dirty="0" smtClean="0"/>
              <a:t>when we ignore outliers the graph indicates a positive curve which indicates .</a:t>
            </a:r>
          </a:p>
          <a:p>
            <a:endParaRPr lang="en-US" sz="2000" b="1" dirty="0" smtClean="0"/>
          </a:p>
          <a:p>
            <a:pPr>
              <a:buFont typeface="Arial" charset="0"/>
              <a:buChar char="•"/>
            </a:pPr>
            <a:r>
              <a:rPr lang="en-US" sz="2000" b="1" dirty="0" smtClean="0"/>
              <a:t> The latest bikes are costly than the old bikes.</a:t>
            </a:r>
          </a:p>
          <a:p>
            <a:endParaRPr lang="en-US" sz="2000" b="1" dirty="0" smtClean="0"/>
          </a:p>
          <a:p>
            <a:pPr>
              <a:buFont typeface="Arial" charset="0"/>
              <a:buChar char="•"/>
            </a:pPr>
            <a:r>
              <a:rPr lang="en-US" sz="2000" b="1" dirty="0" smtClean="0"/>
              <a:t> If you want to own a latest bike you have to pay more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81000"/>
            <a:ext cx="10515600" cy="1325563"/>
          </a:xfrm>
        </p:spPr>
        <p:txBody>
          <a:bodyPr/>
          <a:lstStyle/>
          <a:p>
            <a:r>
              <a:rPr lang="en-US" dirty="0" smtClean="0"/>
              <a:t>Range of bikes price based on brand?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09600"/>
            <a:ext cx="12192000" cy="5103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0" y="5715000"/>
            <a:ext cx="937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1800" b="1" dirty="0" smtClean="0"/>
              <a:t>Brand is highly </a:t>
            </a:r>
            <a:r>
              <a:rPr lang="en-US" sz="1800" b="1" dirty="0" err="1" smtClean="0"/>
              <a:t>influensing</a:t>
            </a:r>
            <a:r>
              <a:rPr lang="en-US" sz="1800" b="1" dirty="0" smtClean="0"/>
              <a:t> Price of a bike</a:t>
            </a:r>
          </a:p>
          <a:p>
            <a:pPr>
              <a:buFont typeface="Arial" charset="0"/>
              <a:buChar char="•"/>
            </a:pPr>
            <a:r>
              <a:rPr lang="en-US" sz="1800" b="1" dirty="0" smtClean="0"/>
              <a:t>Harley bike starting range is more than price is 300000</a:t>
            </a:r>
          </a:p>
          <a:p>
            <a:pPr>
              <a:buFont typeface="Arial" charset="0"/>
              <a:buChar char="•"/>
            </a:pPr>
            <a:r>
              <a:rPr lang="en-US" sz="1800" b="1" dirty="0" smtClean="0"/>
              <a:t> </a:t>
            </a:r>
            <a:r>
              <a:rPr lang="en-US" sz="1800" b="1" dirty="0" err="1" smtClean="0"/>
              <a:t>kawasaki,Benelli,Hyosung</a:t>
            </a:r>
            <a:r>
              <a:rPr lang="en-US" sz="1800" b="1" dirty="0" smtClean="0"/>
              <a:t> bike starting range is more than price is 200000</a:t>
            </a:r>
          </a:p>
          <a:p>
            <a:pPr>
              <a:buFont typeface="Arial" charset="0"/>
              <a:buChar char="•"/>
            </a:pPr>
            <a:r>
              <a:rPr lang="en-US" sz="1800" b="1" dirty="0" smtClean="0"/>
              <a:t> Most of the bike brands cost is below 200000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153"/>
            <a:ext cx="10515600" cy="1325563"/>
          </a:xfrm>
        </p:spPr>
        <p:txBody>
          <a:bodyPr/>
          <a:lstStyle/>
          <a:p>
            <a:r>
              <a:rPr lang="en-US" dirty="0" smtClean="0"/>
              <a:t>Top performing Brands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12192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0" y="5638800"/>
            <a:ext cx="8991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chemeClr val="tx1"/>
                </a:solidFill>
              </a:rPr>
              <a:t>A Suzuki vehicle has travelled around 2LAkh KM's. (penetrated brand : Bajaj, Service : Suzuki)</a:t>
            </a:r>
          </a:p>
          <a:p>
            <a:r>
              <a:rPr lang="en-US" sz="1800" b="1" dirty="0" smtClean="0">
                <a:solidFill>
                  <a:schemeClr val="tx1"/>
                </a:solidFill>
              </a:rPr>
              <a:t>Honda and Royal Enfield vehicle has travelled nearly 1,25,000.</a:t>
            </a:r>
          </a:p>
          <a:p>
            <a:r>
              <a:rPr lang="en-US" sz="1800" b="1" dirty="0" smtClean="0">
                <a:solidFill>
                  <a:schemeClr val="tx1"/>
                </a:solidFill>
              </a:rPr>
              <a:t>If we choose these vehicles to buy for second hand they might be worthy</a:t>
            </a:r>
          </a:p>
          <a:p>
            <a:endParaRPr lang="en-US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Year distribution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12289" name="Picture 1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127229" y="762000"/>
            <a:ext cx="1201442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153"/>
            <a:ext cx="10515600" cy="11588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Year </a:t>
            </a:r>
            <a:r>
              <a:rPr lang="en-US" dirty="0" err="1" smtClean="0"/>
              <a:t>vs</a:t>
            </a:r>
            <a:r>
              <a:rPr lang="en-US" dirty="0" smtClean="0"/>
              <a:t> Price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85800"/>
            <a:ext cx="10114512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38" y="224"/>
            <a:ext cx="10515600" cy="1325563"/>
          </a:xfrm>
        </p:spPr>
        <p:txBody>
          <a:bodyPr/>
          <a:lstStyle/>
          <a:p>
            <a:r>
              <a:rPr lang="en-US" dirty="0" smtClean="0"/>
              <a:t>Where you might get more options?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56809"/>
            <a:ext cx="10515600" cy="49201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3000"/>
            <a:ext cx="12039599" cy="4876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257800"/>
            <a:ext cx="8991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When the budget is between 20 thousand to 50 thousand what are the brands available in this budget?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98613"/>
            <a:ext cx="8659813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9067800" y="1676400"/>
            <a:ext cx="2133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Honda ,</a:t>
            </a:r>
            <a:r>
              <a:rPr lang="en-US" sz="2000" b="1" dirty="0" err="1" smtClean="0">
                <a:solidFill>
                  <a:schemeClr val="tx1"/>
                </a:solidFill>
              </a:rPr>
              <a:t>Hero,Bajaj,TVS,Yamaha,Suzuki</a:t>
            </a:r>
            <a:r>
              <a:rPr lang="en-US" sz="2000" b="1" dirty="0" smtClean="0">
                <a:solidFill>
                  <a:schemeClr val="tx1"/>
                </a:solidFill>
              </a:rPr>
              <a:t> are the  brands available for the budget of 20 to 50 thousand</a:t>
            </a:r>
            <a:endParaRPr 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After Scraping  and analyzing the data from BikeKharido.com  it is evident that More than Registered year, Km’s driven and Brand are influencing the price of a Bike.</a:t>
            </a:r>
          </a:p>
          <a:p>
            <a:r>
              <a:rPr lang="en-US" sz="2400" dirty="0" smtClean="0"/>
              <a:t>Most Penetrated brand is Bajaj where as most performing brand is </a:t>
            </a:r>
            <a:r>
              <a:rPr lang="en-US" sz="2400" dirty="0" err="1" smtClean="0"/>
              <a:t>suzuki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Metropolitan cities have diverse choices than other areas.</a:t>
            </a:r>
          </a:p>
          <a:p>
            <a:r>
              <a:rPr lang="en-US" sz="2400" dirty="0" smtClean="0"/>
              <a:t>The lesser distance the bike had travelled the more expensive the bike would be.</a:t>
            </a:r>
            <a:endParaRPr lang="en-US" sz="2400" dirty="0"/>
          </a:p>
          <a:p>
            <a:r>
              <a:rPr lang="en-US" sz="2400" dirty="0" smtClean="0"/>
              <a:t>How  latest the bike is  as expensive it would be.</a:t>
            </a: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147395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Motives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What amount is required to buy a vehicle (second hand)?</a:t>
            </a:r>
          </a:p>
          <a:p>
            <a:r>
              <a:rPr lang="en-US" sz="3600" dirty="0" smtClean="0"/>
              <a:t>How Registered year impact price of the vehicle.</a:t>
            </a:r>
          </a:p>
          <a:p>
            <a:r>
              <a:rPr lang="en-US" sz="3600" dirty="0" smtClean="0"/>
              <a:t>Which Vehicle to choose an over-travelled one  or the vehicle that has travelled less Km’s.</a:t>
            </a:r>
          </a:p>
          <a:p>
            <a:r>
              <a:rPr lang="en-US" sz="3600" dirty="0" smtClean="0"/>
              <a:t>What should your trust (brand or Service)?</a:t>
            </a:r>
          </a:p>
          <a:p>
            <a:r>
              <a:rPr lang="en-US" sz="3600" dirty="0" smtClean="0"/>
              <a:t>Where to look for more options?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823</Words>
  <Application>Microsoft Office PowerPoint</Application>
  <PresentationFormat>Custom</PresentationFormat>
  <Paragraphs>106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Algerian</vt:lpstr>
      <vt:lpstr>Times New Roman</vt:lpstr>
      <vt:lpstr>Arial Rounded MT Bold</vt:lpstr>
      <vt:lpstr>Libre Baskerville</vt:lpstr>
      <vt:lpstr>Office Theme</vt:lpstr>
      <vt:lpstr>Slide 1</vt:lpstr>
      <vt:lpstr>Contents</vt:lpstr>
      <vt:lpstr>Introduction to Bikekharido.com(An Online Marketplace for Bikes:</vt:lpstr>
      <vt:lpstr>PROBLEM STATEMENT(Objective):</vt:lpstr>
      <vt:lpstr>Slide 5</vt:lpstr>
      <vt:lpstr>Slide 6</vt:lpstr>
      <vt:lpstr>Slide 7</vt:lpstr>
      <vt:lpstr>Motives</vt:lpstr>
      <vt:lpstr>TOOLS</vt:lpstr>
      <vt:lpstr>Steps For Collecting Data</vt:lpstr>
      <vt:lpstr>Sample Code</vt:lpstr>
      <vt:lpstr>Collected Data</vt:lpstr>
      <vt:lpstr>Raw Data </vt:lpstr>
      <vt:lpstr>Steps For Cleaning Data</vt:lpstr>
      <vt:lpstr>Quick view of Cleaned data </vt:lpstr>
      <vt:lpstr>Type and shape of data </vt:lpstr>
      <vt:lpstr>statistical data</vt:lpstr>
      <vt:lpstr>Finding correlation of data</vt:lpstr>
      <vt:lpstr>What is the average price of second hand bike and Evaluate the reason for such price(high or low)?</vt:lpstr>
      <vt:lpstr>What are those Expensive Bikes?</vt:lpstr>
      <vt:lpstr>Listings of bikes in different brands</vt:lpstr>
      <vt:lpstr>Taking Year into consideration</vt:lpstr>
      <vt:lpstr>Range of bikes price based on brand?</vt:lpstr>
      <vt:lpstr>Top performing Brands </vt:lpstr>
      <vt:lpstr>Year distribution </vt:lpstr>
      <vt:lpstr>Year vs Price </vt:lpstr>
      <vt:lpstr>Where you might get more options?</vt:lpstr>
      <vt:lpstr>When the budget is between 20 thousand to 50 thousand what are the brands available in this budget? </vt:lpstr>
      <vt:lpstr>CONCLUSION</vt:lpstr>
      <vt:lpstr>Motives</vt:lpstr>
      <vt:lpstr>Slide 31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Raghu Ram Aduri</dc:creator>
  <cp:lastModifiedBy>user</cp:lastModifiedBy>
  <cp:revision>139</cp:revision>
  <dcterms:created xsi:type="dcterms:W3CDTF">2021-02-16T05:19:01Z</dcterms:created>
  <dcterms:modified xsi:type="dcterms:W3CDTF">2025-10-25T11:12:40Z</dcterms:modified>
</cp:coreProperties>
</file>